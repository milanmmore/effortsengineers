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56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1005840"/>
            <a:ext cx="3108960" cy="3108960"/>
          </a:xfrm>
          <a:prstGeom prst="ellipse">
            <a:avLst/>
          </a:prstGeom>
          <a:solidFill>
            <a:srgbClr val="1F6F7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0" y="4023360"/>
            <a:ext cx="2011680" cy="2011680"/>
          </a:xfrm>
          <a:prstGeom prst="ellipse">
            <a:avLst/>
          </a:prstGeom>
          <a:solidFill>
            <a:srgbClr val="F2A93B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32520" y="2148840"/>
            <a:ext cx="868680" cy="86868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node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8377" y="237469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738360" y="3246120"/>
            <a:ext cx="731520" cy="731520"/>
          </a:xfrm>
          <a:prstGeom prst="ellipse">
            <a:avLst/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s/react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555" y="3436315"/>
            <a:ext cx="351130" cy="3511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738360" y="3246120"/>
            <a:ext cx="731520" cy="731520"/>
          </a:xfrm>
          <a:prstGeom prst="rect">
            <a:avLst/>
          </a:prstGeom>
          <a:solidFill>
            <a:srgbClr val="1A3448"/>
          </a:solidFill>
          <a:ln w="1905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s/react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555" y="343631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EFFORTSENGINEERS  ·  ENGINEERING TEAM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94360" y="265176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Developer Onboarding Flow</a:t>
            </a:r>
            <a:endParaRPr lang="en-US" sz="40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605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cloned repo to a running full-stack app: setup, workflow, and the checks that prove it's wired together.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5349240"/>
            <a:ext cx="928116" cy="384048"/>
          </a:xfrm>
          <a:prstGeom prst="roundRect">
            <a:avLst>
              <a:gd name="adj" fmla="val 19048"/>
            </a:avLst>
          </a:prstGeom>
          <a:solidFill>
            <a:srgbClr val="1A344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640080" y="534924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1732788" y="5349240"/>
            <a:ext cx="928116" cy="384048"/>
          </a:xfrm>
          <a:prstGeom prst="roundRect">
            <a:avLst>
              <a:gd name="adj" fmla="val 19048"/>
            </a:avLst>
          </a:prstGeom>
          <a:solidFill>
            <a:srgbClr val="1A344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1732788" y="5349240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825496" y="5349240"/>
            <a:ext cx="1216152" cy="384048"/>
          </a:xfrm>
          <a:prstGeom prst="roundRect">
            <a:avLst>
              <a:gd name="adj" fmla="val 19048"/>
            </a:avLst>
          </a:prstGeom>
          <a:solidFill>
            <a:srgbClr val="1A344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2825496" y="534924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206240" y="5349240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1A344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4206240" y="53492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40080" y="6172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effortsengineers-frontend   ·   effortsengineers-backend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Pre-Requisites for Developers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developers share the same starting checklist before writing a line of feature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62956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27000" dist="38100" dir="5400000" algn="bl" rotWithShape="0">
              <a:srgbClr val="2B3A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341961"/>
            <a:ext cx="272125" cy="2721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40280"/>
            <a:ext cx="40827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Tools Installed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3017520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3088843"/>
            <a:ext cx="131674" cy="1316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962656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v18+ (includes npm)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68680" y="3858768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3930091"/>
            <a:ext cx="131674" cy="13167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803904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or yarn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68680" y="4700016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4771339"/>
            <a:ext cx="131674" cy="13167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4645152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pgAdmin (backend)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868680" y="5541264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" y="5612587"/>
            <a:ext cx="131674" cy="13167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548640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ESLint, Prettier,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React/Next.js snippets, REST Client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8190201" y="1655064"/>
            <a:ext cx="5362956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27000" dist="38100" dir="5400000" algn="bl" rotWithShape="0">
              <a:srgbClr val="2B3A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597396" y="2194560"/>
            <a:ext cx="566928" cy="566928"/>
          </a:xfrm>
          <a:prstGeom prst="ellipse">
            <a:avLst/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797" y="2341961"/>
            <a:ext cx="272125" cy="27212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283196" y="2240280"/>
            <a:ext cx="40827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Knowledge Prep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6597396" y="3017520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3088843"/>
            <a:ext cx="131674" cy="13167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054596" y="2962656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ES6+ — async/await, modules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597396" y="3858768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7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3930091"/>
            <a:ext cx="131674" cy="13167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7054596" y="3803904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6597396" y="4700016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8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4771339"/>
            <a:ext cx="131674" cy="131674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7054596" y="4645152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basics — CRUD, joins, foreign keys</a:t>
            </a:r>
            <a:endParaRPr lang="en-US" sz="1250" dirty="0"/>
          </a:p>
        </p:txBody>
      </p:sp>
      <p:sp>
        <p:nvSpPr>
          <p:cNvPr id="34" name="Shape 23"/>
          <p:cNvSpPr/>
          <p:nvPr/>
        </p:nvSpPr>
        <p:spPr>
          <a:xfrm>
            <a:off x="6597396" y="5541264"/>
            <a:ext cx="274320" cy="27432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9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5612587"/>
            <a:ext cx="131674" cy="131674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7054596" y="5486400"/>
            <a:ext cx="42656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 &amp; hooks (frontend)</a:t>
            </a:r>
            <a:endParaRPr lang="en-US" sz="1250" dirty="0"/>
          </a:p>
        </p:txBody>
      </p:sp>
      <p:sp>
        <p:nvSpPr>
          <p:cNvPr id="37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· STEP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Clone &amp; Configure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repository and system tooling in place before either app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42248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27464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12680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896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3112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943600" cy="4297680"/>
          </a:xfrm>
          <a:prstGeom prst="roundRect">
            <a:avLst>
              <a:gd name="adj" fmla="val 1915"/>
            </a:avLst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121408"/>
            <a:ext cx="128016" cy="128016"/>
          </a:xfrm>
          <a:prstGeom prst="ellipse">
            <a:avLst/>
          </a:prstGeom>
          <a:solidFill>
            <a:srgbClr val="E06C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78408" y="212140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79576" y="2121408"/>
            <a:ext cx="128016" cy="128016"/>
          </a:xfrm>
          <a:prstGeom prst="ellipse">
            <a:avLst/>
          </a:prstGeom>
          <a:solidFill>
            <a:srgbClr val="5FB9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251460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&lt;repo-url&gt;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EffortsEngineers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user.email you@company.com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6F8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system tooling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Node.js v18+  (node -v)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VS Code + ESLint, Prettier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PostgreSQL + pgAdmin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9202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319" y="2050999"/>
            <a:ext cx="241402" cy="241402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52360" y="18928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first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7452360" y="2176272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repo and configure Git with your company email before touching any code.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766560" y="32918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icons/term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319" y="3422599"/>
            <a:ext cx="241402" cy="2414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452360" y="32644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Node ≥ 18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7452360" y="3547872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step assumes a matching Node runtime across both developers.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766560" y="4663440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319" y="4794199"/>
            <a:ext cx="241402" cy="24140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452360" y="46360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ready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452360" y="4919472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PostgreSQL and pgAdmin now — the backend step depends on it.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· STEP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 Setup — Next.js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for login, catalog browsing, quotations, and the client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42248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27464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12680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896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3112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7607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27000" dist="38100" dir="5400000" algn="bl" rotWithShape="0">
              <a:srgbClr val="2B3A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2212848"/>
            <a:ext cx="502920" cy="502920"/>
          </a:xfrm>
          <a:prstGeom prst="ellipse">
            <a:avLst/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react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343607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08760" y="2231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effortsengineers-frontend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68680" y="2971800"/>
            <a:ext cx="329184" cy="329184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6868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9535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effortsengineers-frontend  &amp;&amp;  npm install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868680" y="3758184"/>
            <a:ext cx="329184" cy="329184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6868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398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.env.local  →  NEXT_PUBLIC_API_URL=http://localhost:5000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868680" y="4544568"/>
            <a:ext cx="329184" cy="329184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526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868680" y="5330952"/>
            <a:ext cx="329184" cy="329184"/>
          </a:xfrm>
          <a:prstGeom prst="ellipse">
            <a:avLst/>
          </a:prstGeom>
          <a:solidFill>
            <a:srgbClr val="EA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68680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531266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 http://localhost:3000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6629400" y="1920240"/>
            <a:ext cx="5010912" cy="4297680"/>
          </a:xfrm>
          <a:prstGeom prst="roundRect">
            <a:avLst>
              <a:gd name="adj" fmla="val 1915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949440" y="219456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frontend owns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49440" y="27523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159752" y="26517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register screens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949440" y="32095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159752" y="31089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browsing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949440" y="36667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159752" y="35661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request form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949440" y="41239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159752" y="40233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order dashboard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949440" y="516636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GET/POST requests to the backend and receives JSON + auth tokens in return.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· STEP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Setup — Express + PostgreSQL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authentication, and business logic behind every frontend request.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42248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27464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12680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896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3112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76072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27000" dist="38100" dir="5400000" algn="bl" rotWithShape="0">
              <a:srgbClr val="2B3A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2212848"/>
            <a:ext cx="502920" cy="50292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node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343607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08760" y="22311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effortsengineers-backend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68680" y="2971800"/>
            <a:ext cx="329184" cy="329184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868680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295351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effortsengineers-backend  &amp;&amp;  npm install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868680" y="3758184"/>
            <a:ext cx="329184" cy="329184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86868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73989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.env  →  PORT, DATABASE_URL, JWT_SECRET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868680" y="4544568"/>
            <a:ext cx="329184" cy="329184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868680" y="4544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4526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868680" y="5330952"/>
            <a:ext cx="329184" cy="329184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868680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371600" y="5312664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80" dirty="0">
                <a:solidFill>
                  <a:srgbClr val="1622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http://localhost:5000/api/health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6629400" y="1920240"/>
            <a:ext cx="5010912" cy="4297680"/>
          </a:xfrm>
          <a:prstGeom prst="roundRect">
            <a:avLst>
              <a:gd name="adj" fmla="val 1915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 txBox="1"/>
          <p:nvPr/>
        </p:nvSpPr>
        <p:spPr>
          <a:xfrm>
            <a:off x="6949440" y="219456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backend owns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49440" y="27523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7159752" y="26517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  — register &amp; login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949440" y="32095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7159752" y="31089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/catalog  — CRUD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949440" y="36667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7159752" y="35661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/quotation  &amp;  /orders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949440" y="412394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7159752" y="40233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+ role-based middleware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6949440" y="5166360"/>
            <a:ext cx="4370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PostgreSQL via SQL queries and returns JSON responses to the frontend.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· STEP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 Setup — PostgreSQL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tables model the relationship from client to quotation to order.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42248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27464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12680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896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3112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DDE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2015338"/>
            <a:ext cx="175565" cy="17556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51560" y="1901952"/>
            <a:ext cx="3102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 effortsengineers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45864" y="1920240"/>
            <a:ext cx="365760" cy="36576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962" y="2015338"/>
            <a:ext cx="175565" cy="1755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48784" y="1901952"/>
            <a:ext cx="3102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schema migrations from /db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43088" y="1920240"/>
            <a:ext cx="365760" cy="365760"/>
          </a:xfrm>
          <a:prstGeom prst="ellipse">
            <a:avLst/>
          </a:prstGeom>
          <a:solidFill>
            <a:srgbClr val="FBEF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186" y="2015338"/>
            <a:ext cx="175565" cy="1755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46008" y="1901952"/>
            <a:ext cx="3102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tables with pgAdmin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924812" y="324612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1924812" y="3246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3497580" y="32461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3753612" y="324612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3753612" y="3246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5326380" y="32461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582412" y="324612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5582412" y="3246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quotations</a:t>
            </a:r>
            <a:endParaRPr lang="en-US" sz="1250" dirty="0"/>
          </a:p>
        </p:txBody>
      </p:sp>
      <p:sp>
        <p:nvSpPr>
          <p:cNvPr id="27" name="Text 22"/>
          <p:cNvSpPr txBox="1"/>
          <p:nvPr/>
        </p:nvSpPr>
        <p:spPr>
          <a:xfrm>
            <a:off x="7155180" y="32461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7411212" y="324612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7411212" y="3246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983980" y="3246120"/>
            <a:ext cx="256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9240012" y="324612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9240012" y="324612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 →  quotations  →  orders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EF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86868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Pre-coding check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868680" y="5769864"/>
            <a:ext cx="10451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≥ 18 and PostgreSQL ≥ 14 installed  ·  .env files excluded via .gitignore  ·  both servers run locally before coding</a:t>
            </a:r>
            <a:endParaRPr lang="en-US" sz="1150" dirty="0"/>
          </a:p>
        </p:txBody>
      </p:sp>
      <p:sp>
        <p:nvSpPr>
          <p:cNvPr id="37" name="Text 3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 · STEP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Integration 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frontend and backend are actually talking before moving to feature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842248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27464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12680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97896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83112" y="457200"/>
            <a:ext cx="457200" cy="822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2B3A44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2295144"/>
            <a:ext cx="566928" cy="56692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icons/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01" y="2442545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691640" y="21671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Login flow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892040" y="2167128"/>
            <a:ext cx="6519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login form calls backend  /auth/login  and stores the returned JWT.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456432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2B3A44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14400" y="3785616"/>
            <a:ext cx="566928" cy="56692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icons/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01" y="3933017"/>
            <a:ext cx="272125" cy="27212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916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Catalog fetch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892040" y="3657600"/>
            <a:ext cx="6519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page calls  /catalog  and renders the live product list from PostgreSQL.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946904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2B3A44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14400" y="5276088"/>
            <a:ext cx="566928" cy="56692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icons/tas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801" y="5423489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691640" y="514807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Orders dashboard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4892040" y="5148072"/>
            <a:ext cx="6519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dashboard calls  /orders  and confirms role-based access works end to end.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0C1B2A"/>
          </a:solidFill>
          <a:ln w="1905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880360" cy="594360"/>
          </a:xfrm>
          <a:prstGeom prst="roundRect">
            <a:avLst>
              <a:gd name="adj" fmla="val 15385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2267712"/>
            <a:ext cx="2880360" cy="29260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86968" y="2084832"/>
            <a:ext cx="365760" cy="365760"/>
          </a:xfrm>
          <a:prstGeom prst="ellipse">
            <a:avLst/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react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66" y="2179930"/>
            <a:ext cx="175565" cy="1755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65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624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" y="314553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1430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UI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60120" y="3712464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143000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Dashboard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60120" y="427939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143000" y="4197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Quotation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43400" y="1965960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0C1B2A"/>
          </a:solidFill>
          <a:ln w="19050">
            <a:solidFill>
              <a:srgbClr val="245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43400" y="1965960"/>
            <a:ext cx="2880360" cy="594360"/>
          </a:xfrm>
          <a:prstGeom prst="roundRect">
            <a:avLst>
              <a:gd name="adj" fmla="val 15385"/>
            </a:avLst>
          </a:prstGeom>
          <a:solidFill>
            <a:srgbClr val="24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43400" y="2267712"/>
            <a:ext cx="2880360" cy="292608"/>
          </a:xfrm>
          <a:prstGeom prst="rect">
            <a:avLst/>
          </a:prstGeom>
          <a:solidFill>
            <a:srgbClr val="245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44568" y="2084832"/>
            <a:ext cx="365760" cy="365760"/>
          </a:xfrm>
          <a:prstGeom prst="ellipse">
            <a:avLst/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icons/node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666" y="2179930"/>
            <a:ext cx="175565" cy="17556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029200" y="1965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343400" y="2624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Side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17720" y="314553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48006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617720" y="3712464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4800600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/ Quotations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617720" y="427939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4800600" y="4197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Inventory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001000" y="1965960"/>
            <a:ext cx="2880360" cy="3383280"/>
          </a:xfrm>
          <a:prstGeom prst="roundRect">
            <a:avLst>
              <a:gd name="adj" fmla="val 3175"/>
            </a:avLst>
          </a:prstGeom>
          <a:solidFill>
            <a:srgbClr val="0C1B2A"/>
          </a:solidFill>
          <a:ln w="19050">
            <a:solidFill>
              <a:srgbClr val="2C6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001000" y="1965960"/>
            <a:ext cx="2880360" cy="594360"/>
          </a:xfrm>
          <a:prstGeom prst="roundRect">
            <a:avLst>
              <a:gd name="adj" fmla="val 15385"/>
            </a:avLst>
          </a:prstGeom>
          <a:solidFill>
            <a:srgbClr val="2C6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8001000" y="2267712"/>
            <a:ext cx="2880360" cy="292608"/>
          </a:xfrm>
          <a:prstGeom prst="rect">
            <a:avLst/>
          </a:prstGeom>
          <a:solidFill>
            <a:srgbClr val="2C6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8202168" y="2084832"/>
            <a:ext cx="365760" cy="365760"/>
          </a:xfrm>
          <a:prstGeom prst="ellipse">
            <a:avLst/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266" y="2179930"/>
            <a:ext cx="175565" cy="17556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686800" y="196596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8001000" y="26243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8275320" y="314553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845820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8275320" y="3712464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8458200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&amp; Quotations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8275320" y="427939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 txBox="1"/>
          <p:nvPr/>
        </p:nvSpPr>
        <p:spPr>
          <a:xfrm>
            <a:off x="8458200" y="41970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&amp; Inventory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3566160" y="3063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44" name="Text 39"/>
          <p:cNvSpPr txBox="1"/>
          <p:nvPr/>
        </p:nvSpPr>
        <p:spPr>
          <a:xfrm>
            <a:off x="3429000" y="36118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</a:t>
            </a:r>
            <a:endParaRPr lang="en-US" sz="950" dirty="0"/>
          </a:p>
        </p:txBody>
      </p:sp>
      <p:sp>
        <p:nvSpPr>
          <p:cNvPr id="45" name="Text 40"/>
          <p:cNvSpPr txBox="1"/>
          <p:nvPr/>
        </p:nvSpPr>
        <p:spPr>
          <a:xfrm>
            <a:off x="3429000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Token</a:t>
            </a:r>
            <a:endParaRPr lang="en-US" sz="950" dirty="0"/>
          </a:p>
        </p:txBody>
      </p:sp>
      <p:sp>
        <p:nvSpPr>
          <p:cNvPr id="46" name="Text 41"/>
          <p:cNvSpPr txBox="1"/>
          <p:nvPr/>
        </p:nvSpPr>
        <p:spPr>
          <a:xfrm>
            <a:off x="7223760" y="3063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47" name="Text 42"/>
          <p:cNvSpPr txBox="1"/>
          <p:nvPr/>
        </p:nvSpPr>
        <p:spPr>
          <a:xfrm>
            <a:off x="7086600" y="36118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50" dirty="0"/>
          </a:p>
        </p:txBody>
      </p:sp>
      <p:sp>
        <p:nvSpPr>
          <p:cNvPr id="48" name="Text 43"/>
          <p:cNvSpPr txBox="1"/>
          <p:nvPr/>
        </p:nvSpPr>
        <p:spPr>
          <a:xfrm>
            <a:off x="7086600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Rows</a:t>
            </a:r>
            <a:endParaRPr lang="en-US" sz="950" dirty="0"/>
          </a:p>
        </p:txBody>
      </p:sp>
      <p:sp>
        <p:nvSpPr>
          <p:cNvPr id="49" name="Text 44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flows through JWT-issued tokens; every request from the client carries one once a session starts.</a:t>
            </a:r>
            <a:endParaRPr lang="en-US" sz="1150" dirty="0"/>
          </a:p>
        </p:txBody>
      </p:sp>
      <p:sp>
        <p:nvSpPr>
          <p:cNvPr id="50" name="Text 4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DEVELOPERS, ONE CODEBASE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 Owns What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 (A) and Frontend Dev (B) work in parallel, syncing daily on the API contract.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62956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27000" dist="38100" dir="5400000" algn="bl" rotWithShape="0">
              <a:srgbClr val="2B3A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5362956" cy="429768"/>
          </a:xfrm>
          <a:prstGeom prst="rect">
            <a:avLst/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2002536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Backend · Developer 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5915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Node.js + Express + PostgreSQL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035808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078992" y="2916936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— config/db.js, .env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69417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078992" y="3575304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6 core 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352544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78992" y="4233672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— auth, catalog, quotation, orders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01091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78992" y="4892040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role-based middleware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078992" y="5550408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Jest testing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7356" y="1874520"/>
            <a:ext cx="5362956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27000" dist="38100" dir="5400000" algn="bl" rotWithShape="0">
              <a:srgbClr val="2B3A4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77356" y="187452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77356" y="2313432"/>
            <a:ext cx="5362956" cy="429768"/>
          </a:xfrm>
          <a:prstGeom prst="rect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6597396" y="2002536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Frontend · Developer B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6597396" y="2359152"/>
            <a:ext cx="47228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+ Axios + Bootstrap/MUI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97396" y="3035808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07708" y="2916936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— .env.local, npm run dev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97396" y="369417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07708" y="3575304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 — pages, components, context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97396" y="4352544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07708" y="4233672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forms + protected routes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97396" y="501091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07708" y="4892040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— catalog, quotations,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97396" y="566928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07708" y="5550408"/>
            <a:ext cx="44942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+ forecasting charts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IN SYNC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Git Workflow &amp; Daily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0" cy="4572000"/>
          </a:xfrm>
          <a:prstGeom prst="roundRect">
            <a:avLst>
              <a:gd name="adj" fmla="val 1800"/>
            </a:avLst>
          </a:prstGeom>
          <a:solidFill>
            <a:srgbClr val="1226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84248"/>
            <a:ext cx="457200" cy="457200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10312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Branch &amp; Merge Model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74320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0C1B2A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1051560" y="2743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feature/frontend-auth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333756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0C1B2A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51560" y="3337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feature/backend-orders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4215384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078992" y="409651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developer works in their own branch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4636008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078992" y="45171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clear messages — feat: add login API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5056632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1078992" y="493776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and open a Pull Request for review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" y="5477256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78992" y="535838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merge into dev after code review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589788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1078992" y="5779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E6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tasks on the GitHub Projects board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537960" y="1691640"/>
            <a:ext cx="5102352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blurRad="101600" dist="25400" dir="5400000" algn="bl" rotWithShape="0">
              <a:srgbClr val="2B3A44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858000" y="196596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Daily Best Practices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858000" y="2560320"/>
            <a:ext cx="420624" cy="420624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362" y="2669682"/>
            <a:ext cx="201900" cy="2019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434072" y="252374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audit fix weekly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7434072" y="2788920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dependency vulnerabilities on a regular cadence.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6858000" y="3456432"/>
            <a:ext cx="420624" cy="420624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362" y="3565794"/>
            <a:ext cx="201900" cy="2019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434072" y="341985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files stay out of Git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7434072" y="3685032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local — always listed in .gitignore.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6858000" y="4352544"/>
            <a:ext cx="420624" cy="420624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362" y="4461906"/>
            <a:ext cx="201900" cy="2019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434072" y="43159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frontend ↔ backend sync</a:t>
            </a:r>
            <a:endParaRPr lang="en-US" sz="1250" dirty="0"/>
          </a:p>
        </p:txBody>
      </p:sp>
      <p:sp>
        <p:nvSpPr>
          <p:cNvPr id="35" name="Text 29"/>
          <p:cNvSpPr txBox="1"/>
          <p:nvPr/>
        </p:nvSpPr>
        <p:spPr>
          <a:xfrm>
            <a:off x="7434072" y="458114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API contracts haven't drifted.</a:t>
            </a:r>
            <a:endParaRPr lang="en-US" sz="1080" dirty="0"/>
          </a:p>
        </p:txBody>
      </p:sp>
      <p:sp>
        <p:nvSpPr>
          <p:cNvPr id="36" name="Shape 30"/>
          <p:cNvSpPr/>
          <p:nvPr/>
        </p:nvSpPr>
        <p:spPr>
          <a:xfrm>
            <a:off x="6858000" y="5248656"/>
            <a:ext cx="420624" cy="420624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icons/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362" y="5358018"/>
            <a:ext cx="201900" cy="2019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434072" y="52120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new endpoints</a:t>
            </a:r>
            <a:endParaRPr lang="en-US" sz="1250" dirty="0"/>
          </a:p>
        </p:txBody>
      </p:sp>
      <p:sp>
        <p:nvSpPr>
          <p:cNvPr id="39" name="Text 32"/>
          <p:cNvSpPr txBox="1"/>
          <p:nvPr/>
        </p:nvSpPr>
        <p:spPr>
          <a:xfrm>
            <a:off x="7434072" y="5477256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route gets logged in API_DOCS.md.</a:t>
            </a:r>
            <a:endParaRPr lang="en-US" sz="1080" dirty="0"/>
          </a:p>
        </p:txBody>
      </p:sp>
      <p:sp>
        <p:nvSpPr>
          <p:cNvPr id="40" name="Text 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C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206240"/>
            <a:ext cx="3291840" cy="3291840"/>
          </a:xfrm>
          <a:prstGeom prst="ellipse">
            <a:avLst/>
          </a:prstGeom>
          <a:solidFill>
            <a:srgbClr val="1F6F7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029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WHEN…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Pre-Coding Checklist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432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through this once before opening your first feature branch.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84048" cy="38404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1471452"/>
            <a:ext cx="184343" cy="184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257800" y="1353312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≥ 18 and PostgreSQL ≥ 14 installed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63440" y="2121408"/>
            <a:ext cx="384048" cy="38404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2221260"/>
            <a:ext cx="184343" cy="184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103120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/ .env.local exist and are excluded via .gitignore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663440" y="2871216"/>
            <a:ext cx="384048" cy="38404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2971068"/>
            <a:ext cx="184343" cy="18434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7800" y="2852928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running —  npm start  on :5000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63440" y="3621024"/>
            <a:ext cx="384048" cy="38404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3720876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257800" y="3602736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running —  npm run dev  on :3000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4663440" y="4370832"/>
            <a:ext cx="384048" cy="38404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4470684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257800" y="4352544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base URL matches the backend port</a:t>
            </a:r>
            <a:endParaRPr lang="en-US" sz="1350" dirty="0"/>
          </a:p>
        </p:txBody>
      </p:sp>
      <p:sp>
        <p:nvSpPr>
          <p:cNvPr id="22" name="Shape 15"/>
          <p:cNvSpPr/>
          <p:nvPr/>
        </p:nvSpPr>
        <p:spPr>
          <a:xfrm>
            <a:off x="4663440" y="5120640"/>
            <a:ext cx="384048" cy="384048"/>
          </a:xfrm>
          <a:prstGeom prst="ellipse">
            <a:avLst/>
          </a:prstGeom>
          <a:solidFill>
            <a:srgbClr val="1F6F7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292" y="5220492"/>
            <a:ext cx="184343" cy="184343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257800" y="5102352"/>
            <a:ext cx="6382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F2F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catalog, and orders flow tested end to end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663440" y="6007608"/>
            <a:ext cx="6976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Welcome to EffortsEngineers.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1001</Words>
  <Application>Microsoft Office PowerPoint</Application>
  <PresentationFormat>Widescreen</PresentationFormat>
  <Paragraphs>193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milan more</cp:lastModifiedBy>
  <cp:revision>3</cp:revision>
  <dcterms:created xsi:type="dcterms:W3CDTF">2026-09-10T05:23:34Z</dcterms:created>
  <dcterms:modified xsi:type="dcterms:W3CDTF">2026-09-11T12:52:53Z</dcterms:modified>
</cp:coreProperties>
</file>